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B43E72-3C97-4FDF-85AA-3486FE9AD1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9B21AB-9DA7-47D0-A2E5-FCEE0F4AF3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1D6DC9-7484-403E-82B0-C7F0770BE8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C1DBFE-DE4B-47D1-896D-5E2E4EC58E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76127A-057D-4F12-8298-6F2519508A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A889DC-1DB6-4A7F-87DB-96FCDEE515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D5EA1D-3A5F-45B7-8066-25BCE17946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B7E21C-9DF2-4DB7-9CA8-CE5106EA7B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441808-33FF-42C6-9DF4-3536199EA3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B5D8D4-72A5-4ED9-BABC-D4814ED24B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14985F-A941-4BEB-BFE5-AD4F4D3BD3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400" b="1" u="none" strike="noStrike">
                <a:solidFill>
                  <a:srgbClr val="2f5496"/>
                </a:solidFill>
                <a:effectLst/>
                <a:uFillTx/>
                <a:latin typeface="Calibri"/>
              </a:rPr>
              <a:t>  AI Resume Recommendation System</a:t>
            </a:r>
            <a:br>
              <a:rPr sz="3400"/>
            </a:br>
            <a:r>
              <a:rPr lang="en-US" sz="3400" b="1" u="none" strike="noStrike">
                <a:solidFill>
                  <a:srgbClr val="2f5496"/>
                </a:solidFill>
                <a:effectLst/>
                <a:uFillTx/>
                <a:latin typeface="Calibri"/>
              </a:rPr>
              <a:t>-Ajay, Neeraj, Prashanti, Sathyapriya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IN" sz="20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FastAPI + Streamlit + FAISS + Hybrid Ranking + Optional LLM Reranking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3"/>
          <p:cNvSpPr/>
          <p:nvPr/>
        </p:nvSpPr>
        <p:spPr>
          <a:xfrm>
            <a:off x="0" y="0"/>
            <a:ext cx="12188520" cy="164160"/>
          </a:xfrm>
          <a:prstGeom prst="rect">
            <a:avLst/>
          </a:prstGeom>
          <a:solidFill>
            <a:srgbClr val="4f8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400" b="1" u="none" strike="noStrike">
                <a:solidFill>
                  <a:srgbClr val="2f5496"/>
                </a:solidFill>
                <a:effectLst/>
                <a:uFillTx/>
                <a:latin typeface="Calibri"/>
              </a:rPr>
              <a:t>1) Problem Statement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Recruiters manually screen hundreds of resumes for each job posting.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Keyword matching systems fail to capture semantic relevance.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Hiring teams need faster, transparent, and explainable candidate ranking.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Rectangle 3"/>
          <p:cNvSpPr/>
          <p:nvPr/>
        </p:nvSpPr>
        <p:spPr>
          <a:xfrm>
            <a:off x="0" y="0"/>
            <a:ext cx="12188520" cy="164160"/>
          </a:xfrm>
          <a:prstGeom prst="rect">
            <a:avLst/>
          </a:prstGeom>
          <a:solidFill>
            <a:srgbClr val="4f8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400" b="1" u="none" strike="noStrike">
                <a:solidFill>
                  <a:srgbClr val="2f5496"/>
                </a:solidFill>
                <a:effectLst/>
                <a:uFillTx/>
                <a:latin typeface="Calibri"/>
              </a:rPr>
              <a:t>2) Proposed Solution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Automated resume recommendation system for ranking candidates.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Uses semantic vector search combined with rule-based scoring.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Optional LLM reranking improves candidate relevance for top results.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3"/>
          <p:cNvSpPr/>
          <p:nvPr/>
        </p:nvSpPr>
        <p:spPr>
          <a:xfrm>
            <a:off x="0" y="0"/>
            <a:ext cx="12188520" cy="164160"/>
          </a:xfrm>
          <a:prstGeom prst="rect">
            <a:avLst/>
          </a:prstGeom>
          <a:solidFill>
            <a:srgbClr val="4f8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400" b="1" u="none" strike="noStrike">
                <a:solidFill>
                  <a:srgbClr val="2f5496"/>
                </a:solidFill>
                <a:effectLst/>
                <a:uFillTx/>
                <a:latin typeface="Calibri"/>
              </a:rPr>
              <a:t>3) System Architecture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Input: Resume PDFs + Job Description PDFs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Ingestion Layer: PDF parsing and section extraction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Processing: section chunking and embedding generation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Vector Search: FAISS semantic retrieval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Ranking: hybrid scoring using multiple signals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Output: ranked candidate list with explainable scores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3"/>
          <p:cNvSpPr/>
          <p:nvPr/>
        </p:nvSpPr>
        <p:spPr>
          <a:xfrm>
            <a:off x="0" y="0"/>
            <a:ext cx="12188520" cy="164160"/>
          </a:xfrm>
          <a:prstGeom prst="rect">
            <a:avLst/>
          </a:prstGeom>
          <a:solidFill>
            <a:srgbClr val="4f8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400" b="1" u="none" strike="noStrike">
                <a:solidFill>
                  <a:srgbClr val="2f5496"/>
                </a:solidFill>
                <a:effectLst/>
                <a:uFillTx/>
                <a:latin typeface="Calibri"/>
              </a:rPr>
              <a:t>4) Core Technologies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Backend: FastAPI for API services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Frontend: Streamlit dashboard for recruiter interaction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Embedding Model: SentenceTransformer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Vector Database: FAISS for semantic search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Optional AI Layer: LLM reranking for final candidate evaluation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3"/>
          <p:cNvSpPr/>
          <p:nvPr/>
        </p:nvSpPr>
        <p:spPr>
          <a:xfrm>
            <a:off x="0" y="0"/>
            <a:ext cx="12188520" cy="164160"/>
          </a:xfrm>
          <a:prstGeom prst="rect">
            <a:avLst/>
          </a:prstGeom>
          <a:solidFill>
            <a:srgbClr val="4f8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400" b="1" u="none" strike="noStrike">
                <a:solidFill>
                  <a:srgbClr val="2f5496"/>
                </a:solidFill>
                <a:effectLst/>
                <a:uFillTx/>
                <a:latin typeface="Calibri"/>
              </a:rPr>
              <a:t>5) Resume Processing Pipeline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Resume PDF uploaded by recruiter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Text extraction and section parsing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Sections identified: Skills, Experience, Projects, Education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Sections split into smaller chunks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Chunks converted to vector embeddings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Embeddings stored in FAISS index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Rectangle 3"/>
          <p:cNvSpPr/>
          <p:nvPr/>
        </p:nvSpPr>
        <p:spPr>
          <a:xfrm>
            <a:off x="0" y="0"/>
            <a:ext cx="12188520" cy="164160"/>
          </a:xfrm>
          <a:prstGeom prst="rect">
            <a:avLst/>
          </a:prstGeom>
          <a:solidFill>
            <a:srgbClr val="4f8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400" b="1" u="none" strike="noStrike">
                <a:solidFill>
                  <a:srgbClr val="2f5496"/>
                </a:solidFill>
                <a:effectLst/>
                <a:uFillTx/>
                <a:latin typeface="Calibri"/>
              </a:rPr>
              <a:t>6) Hybrid Ranking Algorithm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Hybrid Score combines multiple signals: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–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Semantic Similarity – vector similarity via FAISS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–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Skill Overlap – matching skill vocabulary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–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Experience Alignment – years and seniority match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–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Domain Match – role/domain relevance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Final score ranks the most relevant candidates.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3"/>
          <p:cNvSpPr/>
          <p:nvPr/>
        </p:nvSpPr>
        <p:spPr>
          <a:xfrm>
            <a:off x="0" y="0"/>
            <a:ext cx="12188520" cy="164160"/>
          </a:xfrm>
          <a:prstGeom prst="rect">
            <a:avLst/>
          </a:prstGeom>
          <a:solidFill>
            <a:srgbClr val="4f8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400" b="1" u="none" strike="noStrike">
                <a:solidFill>
                  <a:srgbClr val="2f5496"/>
                </a:solidFill>
                <a:effectLst/>
                <a:uFillTx/>
                <a:latin typeface="Calibri"/>
              </a:rPr>
              <a:t>7) Optional LLM Reranking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Top candidates can be reranked using a Large Language Model.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LLM compares resume context with job description.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Produces an additional relevance score.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Final ranking combines hybrid score and LLM evaluation.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3"/>
          <p:cNvSpPr/>
          <p:nvPr/>
        </p:nvSpPr>
        <p:spPr>
          <a:xfrm>
            <a:off x="0" y="0"/>
            <a:ext cx="12188520" cy="164160"/>
          </a:xfrm>
          <a:prstGeom prst="rect">
            <a:avLst/>
          </a:prstGeom>
          <a:solidFill>
            <a:srgbClr val="4f8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400" b="1" u="none" strike="noStrike">
                <a:solidFill>
                  <a:srgbClr val="2f5496"/>
                </a:solidFill>
                <a:effectLst/>
                <a:uFillTx/>
                <a:latin typeface="Calibri"/>
              </a:rPr>
              <a:t>8) API Endpoints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POST /upload_jd – upload job description documents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POST /upload_resumes – upload candidate resumes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POST /search – retrieve ranked candidates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GET /search/jobs – list available job descriptions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GET /search/resumes – list available resumes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GET /health – system health check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Rectangle 3"/>
          <p:cNvSpPr/>
          <p:nvPr/>
        </p:nvSpPr>
        <p:spPr>
          <a:xfrm>
            <a:off x="0" y="0"/>
            <a:ext cx="12188520" cy="164160"/>
          </a:xfrm>
          <a:prstGeom prst="rect">
            <a:avLst/>
          </a:prstGeom>
          <a:solidFill>
            <a:srgbClr val="4f8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400" b="1" u="none" strike="noStrike">
                <a:solidFill>
                  <a:srgbClr val="2f5496"/>
                </a:solidFill>
                <a:effectLst/>
                <a:uFillTx/>
                <a:latin typeface="Calibri"/>
              </a:rPr>
              <a:t>9) Testing Strategy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Functional testing of API endpoints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Resume parsing validation across different formats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Ranking quality evaluation (semantic vs hybrid scoring)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Performance testing of embedding and FAISS search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Failure handling for missing artifacts and malformed input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3"/>
          <p:cNvSpPr/>
          <p:nvPr/>
        </p:nvSpPr>
        <p:spPr>
          <a:xfrm>
            <a:off x="0" y="0"/>
            <a:ext cx="12188520" cy="164160"/>
          </a:xfrm>
          <a:prstGeom prst="rect">
            <a:avLst/>
          </a:prstGeom>
          <a:solidFill>
            <a:srgbClr val="4f8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400" b="1" u="none" strike="noStrike">
                <a:solidFill>
                  <a:srgbClr val="2f5496"/>
                </a:solidFill>
                <a:effectLst/>
                <a:uFillTx/>
                <a:latin typeface="Calibri"/>
              </a:rPr>
              <a:t>10) Future Improvements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Fine-tuned ranking models using recruiter feedback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More advanced skill extraction using NLP models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Scalable deployment with cloud infrastructure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20"/>
              </a:spcBef>
              <a:buClr>
                <a:srgbClr val="282828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Analytics dashboard for hiring insights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3"/>
          <p:cNvSpPr/>
          <p:nvPr/>
        </p:nvSpPr>
        <p:spPr>
          <a:xfrm>
            <a:off x="0" y="0"/>
            <a:ext cx="12188520" cy="164160"/>
          </a:xfrm>
          <a:prstGeom prst="rect">
            <a:avLst/>
          </a:prstGeom>
          <a:solidFill>
            <a:srgbClr val="4f8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LibreOffice/25.8.5.2$Linux_X86_64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2026-03-16T14:58:06Z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